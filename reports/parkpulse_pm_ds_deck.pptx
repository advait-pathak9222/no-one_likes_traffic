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81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0528" y="932688"/>
            <a:ext cx="4919472" cy="2029968"/>
          </a:xfrm>
          <a:prstGeom prst="roundRect">
            <a:avLst>
              <a:gd name="adj" fmla="val 8000"/>
            </a:avLst>
          </a:prstGeom>
          <a:solidFill>
            <a:srgbClr val="102A55"/>
          </a:solidFill>
          <a:ln w="15240">
            <a:solidFill>
              <a:srgbClr val="287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m_hotspot_ma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024128"/>
            <a:ext cx="4736592" cy="18105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5577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85215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7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Aptos"/>
              </a:rPr>
              <a:t>Flipkart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21207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C7D7F5"/>
                </a:solidFill>
                <a:latin typeface="Aptos"/>
              </a:rPr>
              <a:t>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66543" y="5577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6543" y="58064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1" y="521207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Aptos"/>
              </a:rPr>
              <a:t>ParkPulse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325880"/>
            <a:ext cx="5486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500" b="1" i="0">
                <a:solidFill>
                  <a:srgbClr val="FFFFFF"/>
                </a:solidFill>
                <a:latin typeface="Aptos"/>
              </a:rPr>
              <a:t>ParkPulse Bengaluru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892807"/>
            <a:ext cx="5486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FD814"/>
                </a:solidFill>
                <a:latin typeface="Aptos"/>
              </a:rPr>
              <a:t>Illegal Parking Impact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487168"/>
            <a:ext cx="58521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ptos"/>
              </a:rPr>
              <a:t>Which illegal parking should Bengaluru solve first?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3419856"/>
            <a:ext cx="1417320" cy="256032"/>
          </a:xfrm>
          <a:prstGeom prst="roundRect">
            <a:avLst>
              <a:gd name="adj" fmla="val 8000"/>
            </a:avLst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447288"/>
            <a:ext cx="1417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FFFFF"/>
                </a:solidFill>
                <a:latin typeface="Aptos"/>
              </a:rPr>
              <a:t>Impact-weighted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50592" y="3419856"/>
            <a:ext cx="1508760" cy="256032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50592" y="3447288"/>
            <a:ext cx="1508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FFFFF"/>
                </a:solidFill>
                <a:latin typeface="Aptos"/>
              </a:rPr>
              <a:t>Exposure-adjusted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6512" y="3419856"/>
            <a:ext cx="1664208" cy="256032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96512" y="3447288"/>
            <a:ext cx="16642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FFFFF"/>
                </a:solidFill>
                <a:latin typeface="Aptos"/>
              </a:rPr>
              <a:t>Resource-constrained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" y="4617720"/>
            <a:ext cx="245059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" y="4617720"/>
            <a:ext cx="45720" cy="658368"/>
          </a:xfrm>
          <a:prstGeom prst="rect">
            <a:avLst/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90872"/>
            <a:ext cx="22494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298,450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01768"/>
            <a:ext cx="22494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1" i="0">
                <a:solidFill>
                  <a:srgbClr val="738092"/>
                </a:solidFill>
                <a:latin typeface="Aptos"/>
              </a:rPr>
              <a:t>violation records analysed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39312" y="4617720"/>
            <a:ext cx="245059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39312" y="4617720"/>
            <a:ext cx="45720" cy="658368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67328" y="4690872"/>
            <a:ext cx="22494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151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67328" y="5001768"/>
            <a:ext cx="22494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1" i="0">
                <a:solidFill>
                  <a:srgbClr val="738092"/>
                </a:solidFill>
                <a:latin typeface="Aptos"/>
              </a:rPr>
              <a:t>active calendar days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617720"/>
            <a:ext cx="245059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617720"/>
            <a:ext cx="45720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4690872"/>
            <a:ext cx="22494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5001768"/>
            <a:ext cx="22494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1" i="0">
                <a:solidFill>
                  <a:srgbClr val="738092"/>
                </a:solidFill>
                <a:latin typeface="Aptos"/>
              </a:rPr>
              <a:t>police stations covered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62288" y="4617720"/>
            <a:ext cx="245059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62288" y="4617720"/>
            <a:ext cx="45720" cy="658368"/>
          </a:xfrm>
          <a:prstGeom prst="rect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90304" y="4690872"/>
            <a:ext cx="22494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10,306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5001768"/>
            <a:ext cx="22494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1" i="0">
                <a:solidFill>
                  <a:srgbClr val="738092"/>
                </a:solidFill>
                <a:latin typeface="Aptos"/>
              </a:rPr>
              <a:t>hotspot cells ranked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3858768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0" b="1" i="0">
                <a:solidFill>
                  <a:srgbClr val="D7E6FF"/>
                </a:solidFill>
                <a:latin typeface="Aptos"/>
              </a:rPr>
              <a:t>A deployment decision system for control rooms, station inspectors and field officers - not a generic traffic dashboard.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6236208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1" i="0">
                <a:solidFill>
                  <a:srgbClr val="C7D7F5"/>
                </a:solidFill>
                <a:latin typeface="Aptos"/>
              </a:rPr>
              <a:t>Flipkart GRiD Round 2 | Theme 1 | AI-driven parking intelligence for illegal-parking hotspots and traffic-flow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Bengaluru does not have an illegal-parking data problem. It has a prioritization problem.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02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All violations are not equal: a blocked running lane near a junction is operationally different from a low-impact challan.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2423160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54864" cy="1243584"/>
          </a:xfrm>
          <a:prstGeom prst="rect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2258568"/>
            <a:ext cx="21671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Illegal parking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2596896"/>
            <a:ext cx="214884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Kerb or running-lane space occupied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27248" y="2615184"/>
            <a:ext cx="292608" cy="219456"/>
          </a:xfrm>
          <a:prstGeom prst="rightArrow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29000" y="2148840"/>
            <a:ext cx="2423160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2148840"/>
            <a:ext cx="54864" cy="1243584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3592" y="2258568"/>
            <a:ext cx="21671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Capacity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3592" y="2596896"/>
            <a:ext cx="214884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Fewer usable lanes during the pressure window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16168" y="2615184"/>
            <a:ext cx="292608" cy="219456"/>
          </a:xfrm>
          <a:prstGeom prst="rightArrow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2148840"/>
            <a:ext cx="2423160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148840"/>
            <a:ext cx="54864" cy="124358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258568"/>
            <a:ext cx="21671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Queue spillback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596896"/>
            <a:ext cx="214884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Junction, market, metro or corridor movement degrades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05088" y="2615184"/>
            <a:ext cx="292608" cy="219456"/>
          </a:xfrm>
          <a:prstGeom prst="right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06840" y="2148840"/>
            <a:ext cx="2423160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06840" y="2148840"/>
            <a:ext cx="54864" cy="12435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71432" y="2258568"/>
            <a:ext cx="21671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Resource trade-off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1432" y="2596896"/>
            <a:ext cx="214884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Patrol and tow units must be rationed by payoff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977639"/>
            <a:ext cx="3520440" cy="1335024"/>
          </a:xfrm>
          <a:prstGeom prst="roundRect">
            <a:avLst>
              <a:gd name="adj" fmla="val 8000"/>
            </a:avLst>
          </a:prstGeom>
          <a:solidFill>
            <a:srgbClr val="FEEEEE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3977639"/>
            <a:ext cx="54864" cy="13350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087368"/>
            <a:ext cx="3264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What a raw heatmap misses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" y="4425696"/>
            <a:ext cx="32461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Recording bias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Officer/device visibility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Vehicle footprint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Tow/patrol capacity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3977639"/>
            <a:ext cx="3520440" cy="1335024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43400" y="3977639"/>
            <a:ext cx="54864" cy="1335024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07992" y="4087368"/>
            <a:ext cx="3264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What ParkPulse adds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7992" y="4425696"/>
            <a:ext cx="32461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Exposure adjustment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Obstruction severity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Repeat/chronic pressure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Resource-constrained dispatch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3977639"/>
            <a:ext cx="3246120" cy="1335024"/>
          </a:xfrm>
          <a:prstGeom prst="roundRect">
            <a:avLst>
              <a:gd name="adj" fmla="val 8000"/>
            </a:avLst>
          </a:prstGeom>
          <a:solidFill>
            <a:srgbClr val="ECF9F0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20" y="3977639"/>
            <a:ext cx="54864" cy="133502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11312" y="4087368"/>
            <a:ext cx="29900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Decision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312" y="4425696"/>
            <a:ext cx="297180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Which zone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Which time window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Which action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Why this priority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Source: ParkPulse pipeline outputs from the provided Theme-1 enforcement dataset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WORKFLOW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From complaint-led patrolling to impact-weighted enforcement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03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ParkPulse changes the operating model from 'where were violations recorded?' to 'where should the next enforcement unit go?'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993392"/>
            <a:ext cx="10881360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1993392"/>
            <a:ext cx="5440680" cy="512063"/>
          </a:xfrm>
          <a:prstGeom prst="rect">
            <a:avLst/>
          </a:prstGeom>
          <a:solidFill>
            <a:srgbClr val="102A55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029968"/>
            <a:ext cx="5349240" cy="466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1" i="0">
                <a:solidFill>
                  <a:srgbClr val="133D8F"/>
                </a:solidFill>
                <a:latin typeface="Aptos"/>
              </a:rPr>
              <a:t>Current enforcement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8" y="1993392"/>
            <a:ext cx="5440680" cy="512063"/>
          </a:xfrm>
          <a:prstGeom prst="rect">
            <a:avLst/>
          </a:prstGeom>
          <a:solidFill>
            <a:srgbClr val="102A55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2029968"/>
            <a:ext cx="5349240" cy="466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1" i="0">
                <a:solidFill>
                  <a:srgbClr val="133D8F"/>
                </a:solidFill>
                <a:latin typeface="Aptos"/>
              </a:rPr>
              <a:t>ParkPulse 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05456"/>
            <a:ext cx="5440680" cy="51206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532888"/>
            <a:ext cx="5330952" cy="466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 i="0">
                <a:solidFill>
                  <a:srgbClr val="0F172A"/>
                </a:solidFill>
                <a:latin typeface="Aptos"/>
              </a:rPr>
              <a:t>Complaint or patrol driven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9048" y="2505456"/>
            <a:ext cx="5440680" cy="51206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532888"/>
            <a:ext cx="5330952" cy="466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 i="0">
                <a:solidFill>
                  <a:srgbClr val="475569"/>
                </a:solidFill>
                <a:latin typeface="Aptos"/>
              </a:rPr>
              <a:t>Daily command-center priority queue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017520"/>
            <a:ext cx="5440680" cy="51206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044951"/>
            <a:ext cx="5330952" cy="466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 i="0">
                <a:solidFill>
                  <a:srgbClr val="0F172A"/>
                </a:solidFill>
                <a:latin typeface="Aptos"/>
              </a:rPr>
              <a:t>Raw visibility bias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9048" y="3017520"/>
            <a:ext cx="5440680" cy="51206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3912" y="3044951"/>
            <a:ext cx="5330952" cy="466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 i="0">
                <a:solidFill>
                  <a:srgbClr val="475569"/>
                </a:solidFill>
                <a:latin typeface="Aptos"/>
              </a:rPr>
              <a:t>Exposure-adjusted hotspot ranking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529584"/>
            <a:ext cx="5440680" cy="51206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557015"/>
            <a:ext cx="5330952" cy="466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 i="0">
                <a:solidFill>
                  <a:srgbClr val="0F172A"/>
                </a:solidFill>
                <a:latin typeface="Aptos"/>
              </a:rPr>
              <a:t>No congestion-impact ranking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9048" y="3529584"/>
            <a:ext cx="5440680" cy="51206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53912" y="3557015"/>
            <a:ext cx="5330952" cy="466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 i="0">
                <a:solidFill>
                  <a:srgbClr val="475569"/>
                </a:solidFill>
                <a:latin typeface="Aptos"/>
              </a:rPr>
              <a:t>Obstruction, spillback and recovery proxies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041648"/>
            <a:ext cx="5440680" cy="51206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069080"/>
            <a:ext cx="5330952" cy="466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 i="0">
                <a:solidFill>
                  <a:srgbClr val="0F172A"/>
                </a:solidFill>
                <a:latin typeface="Aptos"/>
              </a:rPr>
              <a:t>No officer-hour ROI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9048" y="4041648"/>
            <a:ext cx="5440680" cy="51206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53912" y="4069080"/>
            <a:ext cx="5330952" cy="466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 i="0">
                <a:solidFill>
                  <a:srgbClr val="475569"/>
                </a:solidFill>
                <a:latin typeface="Aptos"/>
              </a:rPr>
              <a:t>Patrol/tow simulator and resource-hour payoff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553712"/>
            <a:ext cx="5440680" cy="51206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4581144"/>
            <a:ext cx="5330952" cy="466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 i="0">
                <a:solidFill>
                  <a:srgbClr val="0F172A"/>
                </a:solidFill>
                <a:latin typeface="Aptos"/>
              </a:rPr>
              <a:t>Limited feedback loop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9048" y="4553712"/>
            <a:ext cx="5440680" cy="51206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53912" y="4581144"/>
            <a:ext cx="5330952" cy="466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 i="0">
                <a:solidFill>
                  <a:srgbClr val="475569"/>
                </a:solidFill>
                <a:latin typeface="Aptos"/>
              </a:rPr>
              <a:t>Closure/action fields become model feedback when integrated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532120"/>
            <a:ext cx="10561320" cy="411480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287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632704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133D8F"/>
                </a:solidFill>
                <a:latin typeface="Aptos"/>
              </a:rPr>
              <a:t>Before: patrol harder. After: dispatch smarter, explain decisions, and learn after every shift.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Source: ParkPulse pipeline outputs from the provided Theme-1 enforcement dataset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Three police workflows, one shared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04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The product is designed around command, station planning and field execution - not around charts.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965960"/>
            <a:ext cx="3401568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87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8" y="2176272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203703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FFFFF"/>
                </a:solidFill>
                <a:latin typeface="Aptos"/>
              </a:rPr>
              <a:t>CONTROL 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578608"/>
            <a:ext cx="2944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172A"/>
                </a:solidFill>
                <a:latin typeface="Aptos"/>
              </a:rPr>
              <a:t>Commander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3063240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1" i="0">
                <a:solidFill>
                  <a:srgbClr val="2874F0"/>
                </a:solidFill>
                <a:latin typeface="Aptos"/>
              </a:rPr>
              <a:t>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2184" y="3044952"/>
            <a:ext cx="22677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475569"/>
                </a:solidFill>
                <a:latin typeface="Aptos"/>
              </a:rPr>
              <a:t>Allocate first-wave patrol/tow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3538728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1" i="0">
                <a:solidFill>
                  <a:srgbClr val="2874F0"/>
                </a:solidFill>
                <a:latin typeface="Aptos"/>
              </a:rPr>
              <a:t>Pain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2184" y="3520440"/>
            <a:ext cx="22677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475569"/>
                </a:solidFill>
                <a:latin typeface="Aptos"/>
              </a:rPr>
              <a:t>Too many hotspots to inspect manually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4014216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1" i="0">
                <a:solidFill>
                  <a:srgbClr val="2874F0"/>
                </a:solidFill>
                <a:latin typeface="Aptos"/>
              </a:rPr>
              <a:t>Feature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2184" y="3995928"/>
            <a:ext cx="22677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475569"/>
                </a:solidFill>
                <a:latin typeface="Aptos"/>
              </a:rPr>
              <a:t>City priority queue + risk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4489704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1" i="0">
                <a:solidFill>
                  <a:srgbClr val="2874F0"/>
                </a:solidFill>
                <a:latin typeface="Aptos"/>
              </a:rPr>
              <a:t>Metric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2184" y="4471416"/>
            <a:ext cx="22677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475569"/>
                </a:solidFill>
                <a:latin typeface="Aptos"/>
              </a:rPr>
              <a:t>Top-K high-impact capture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1965960"/>
            <a:ext cx="3401568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B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62856" y="2176272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62856" y="2203703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FFFFF"/>
                </a:solidFill>
                <a:latin typeface="Aptos"/>
              </a:rPr>
              <a:t>STATION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2856" y="2578608"/>
            <a:ext cx="2944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172A"/>
                </a:solidFill>
                <a:latin typeface="Aptos"/>
              </a:rPr>
              <a:t>Inspector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144" y="3063240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1" i="0">
                <a:solidFill>
                  <a:srgbClr val="FB641B"/>
                </a:solidFill>
                <a:latin typeface="Aptos"/>
              </a:rPr>
              <a:t>Job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9512" y="3044952"/>
            <a:ext cx="22677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475569"/>
                </a:solidFill>
                <a:latin typeface="Aptos"/>
              </a:rPr>
              <a:t>Plan local enforcement beats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3538728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1" i="0">
                <a:solidFill>
                  <a:srgbClr val="FB641B"/>
                </a:solidFill>
                <a:latin typeface="Aptos"/>
              </a:rPr>
              <a:t>Pain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512" y="3520440"/>
            <a:ext cx="22677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475569"/>
                </a:solidFill>
                <a:latin typeface="Aptos"/>
              </a:rPr>
              <a:t>City heatmaps do not become local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014216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1" i="0">
                <a:solidFill>
                  <a:srgbClr val="FB641B"/>
                </a:solidFill>
                <a:latin typeface="Aptos"/>
              </a:rPr>
              <a:t>Feature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9512" y="3995928"/>
            <a:ext cx="22677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475569"/>
                </a:solidFill>
                <a:latin typeface="Aptos"/>
              </a:rPr>
              <a:t>Station-wise plan + time windows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4489704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1" i="0">
                <a:solidFill>
                  <a:srgbClr val="FB641B"/>
                </a:solidFill>
                <a:latin typeface="Aptos"/>
              </a:rPr>
              <a:t>Metric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9512" y="4471416"/>
            <a:ext cx="22677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475569"/>
                </a:solidFill>
                <a:latin typeface="Aptos"/>
              </a:rPr>
              <a:t>SLA compliance + repeat reduction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9016" y="1965960"/>
            <a:ext cx="3401568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30184" y="2176272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0184" y="2203703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0184" y="2578608"/>
            <a:ext cx="2944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172A"/>
                </a:solidFill>
                <a:latin typeface="Aptos"/>
              </a:rPr>
              <a:t>Officer / Tow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2" y="3063240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1" i="0">
                <a:solidFill>
                  <a:srgbClr val="16A34A"/>
                </a:solidFill>
                <a:latin typeface="Aptos"/>
              </a:rPr>
              <a:t>Job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3044952"/>
            <a:ext cx="22677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475569"/>
                </a:solidFill>
                <a:latin typeface="Aptos"/>
              </a:rPr>
              <a:t>Clear the obstruction quickly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3538728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1" i="0">
                <a:solidFill>
                  <a:srgbClr val="16A34A"/>
                </a:solidFill>
                <a:latin typeface="Aptos"/>
              </a:rPr>
              <a:t>Pain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3520440"/>
            <a:ext cx="22677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475569"/>
                </a:solidFill>
                <a:latin typeface="Aptos"/>
              </a:rPr>
              <a:t>Needs exact location, reason and action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4014216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1" i="0">
                <a:solidFill>
                  <a:srgbClr val="16A34A"/>
                </a:solidFill>
                <a:latin typeface="Aptos"/>
              </a:rPr>
              <a:t>Feature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3995928"/>
            <a:ext cx="22677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475569"/>
                </a:solidFill>
                <a:latin typeface="Aptos"/>
              </a:rPr>
              <a:t>Mobile/printable field brief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4489704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1" i="0">
                <a:solidFill>
                  <a:srgbClr val="16A34A"/>
                </a:solidFill>
                <a:latin typeface="Aptos"/>
              </a:rPr>
              <a:t>Metric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4471416"/>
            <a:ext cx="22677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475569"/>
                </a:solidFill>
                <a:latin typeface="Aptos"/>
              </a:rPr>
              <a:t>Closure time + recovery proxy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Source: ParkPulse pipeline outputs from the provided Theme-1 enforcement dataset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DAY-IN-THE-LIFE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A morning shift journey from control room to field clearance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05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A good civic-tech product must fit the shift ritual, not ask officers to become analysts.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88920"/>
            <a:ext cx="950976" cy="95097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99815"/>
            <a:ext cx="950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" y="2331720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B641B"/>
                </a:solidFill>
                <a:latin typeface="Aptos"/>
              </a:rPr>
              <a:t>07:30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" y="3931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30" b="1" i="0">
                <a:solidFill>
                  <a:srgbClr val="0F172A"/>
                </a:solidFill>
                <a:latin typeface="Aptos"/>
              </a:rPr>
              <a:t>Command Center opens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" y="4270248"/>
            <a:ext cx="179222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0" b="0" i="0">
                <a:solidFill>
                  <a:srgbClr val="475569"/>
                </a:solidFill>
                <a:latin typeface="Aptos"/>
              </a:rPr>
              <a:t>City KPIs and corridor map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36776" y="3264408"/>
            <a:ext cx="950976" cy="0"/>
          </a:xfrm>
          <a:prstGeom prst="line">
            <a:avLst/>
          </a:prstGeom>
          <a:ln w="254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98648" y="2788920"/>
            <a:ext cx="950976" cy="950976"/>
          </a:xfrm>
          <a:prstGeom prst="roundRect">
            <a:avLst>
              <a:gd name="adj" fmla="val 8000"/>
            </a:avLst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98648" y="3099815"/>
            <a:ext cx="950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7752" y="2331720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B641B"/>
                </a:solidFill>
                <a:latin typeface="Aptos"/>
              </a:rPr>
              <a:t>07:35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8024" y="3931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30" b="1" i="0">
                <a:solidFill>
                  <a:srgbClr val="0F172A"/>
                </a:solidFill>
                <a:latin typeface="Aptos"/>
              </a:rPr>
              <a:t>Top-20 zones ranked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96312" y="4270248"/>
            <a:ext cx="179222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0" b="0" i="0">
                <a:solidFill>
                  <a:srgbClr val="475569"/>
                </a:solidFill>
                <a:latin typeface="Aptos"/>
              </a:rPr>
              <a:t>Obstruction-risk priority queue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49624" y="3264408"/>
            <a:ext cx="950976" cy="0"/>
          </a:xfrm>
          <a:prstGeom prst="line">
            <a:avLst/>
          </a:prstGeom>
          <a:ln w="254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111496" y="2788920"/>
            <a:ext cx="950976" cy="950976"/>
          </a:xfrm>
          <a:prstGeom prst="roundRect">
            <a:avLst>
              <a:gd name="adj" fmla="val 8000"/>
            </a:avLst>
          </a:prstGeom>
          <a:solidFill>
            <a:srgbClr val="6D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1496" y="3099815"/>
            <a:ext cx="950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331720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B641B"/>
                </a:solidFill>
                <a:latin typeface="Aptos"/>
              </a:rPr>
              <a:t>07:40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3931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30" b="1" i="0">
                <a:solidFill>
                  <a:srgbClr val="0F172A"/>
                </a:solidFill>
                <a:latin typeface="Aptos"/>
              </a:rPr>
              <a:t>Station plans issued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59" y="4270248"/>
            <a:ext cx="179222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0" b="0" i="0">
                <a:solidFill>
                  <a:srgbClr val="475569"/>
                </a:solidFill>
                <a:latin typeface="Aptos"/>
              </a:rPr>
              <a:t>Local time-window action plans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62472" y="3264408"/>
            <a:ext cx="950976" cy="0"/>
          </a:xfrm>
          <a:prstGeom prst="line">
            <a:avLst/>
          </a:prstGeom>
          <a:ln w="254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24344" y="2788920"/>
            <a:ext cx="950976" cy="950976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24344" y="3099815"/>
            <a:ext cx="950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2331720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B641B"/>
                </a:solidFill>
                <a:latin typeface="Aptos"/>
              </a:rPr>
              <a:t>08:00-12:00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931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30" b="1" i="0">
                <a:solidFill>
                  <a:srgbClr val="0F172A"/>
                </a:solidFill>
                <a:latin typeface="Aptos"/>
              </a:rPr>
              <a:t>Field execution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7" y="4270248"/>
            <a:ext cx="179222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0" b="0" i="0">
                <a:solidFill>
                  <a:srgbClr val="475569"/>
                </a:solidFill>
                <a:latin typeface="Aptos"/>
              </a:rPr>
              <a:t>Tow/patrol/fixed-window enforcement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75320" y="3264408"/>
            <a:ext cx="950976" cy="0"/>
          </a:xfrm>
          <a:prstGeom prst="line">
            <a:avLst/>
          </a:prstGeom>
          <a:ln w="254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7192" y="2788920"/>
            <a:ext cx="950976" cy="950976"/>
          </a:xfrm>
          <a:prstGeom prst="roundRect">
            <a:avLst>
              <a:gd name="adj" fmla="val 8000"/>
            </a:avLst>
          </a:prstGeom>
          <a:solidFill>
            <a:srgbClr val="10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37192" y="3099815"/>
            <a:ext cx="950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6296" y="2331720"/>
            <a:ext cx="15727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B641B"/>
                </a:solidFill>
                <a:latin typeface="Aptos"/>
              </a:rPr>
              <a:t>End shift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16567" y="3931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30" b="1" i="0">
                <a:solidFill>
                  <a:srgbClr val="0F172A"/>
                </a:solidFill>
                <a:latin typeface="Aptos"/>
              </a:rPr>
              <a:t>Feedback captured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4856" y="4270248"/>
            <a:ext cx="179222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10" b="0" i="0">
                <a:solidFill>
                  <a:srgbClr val="475569"/>
                </a:solidFill>
                <a:latin typeface="Aptos"/>
              </a:rPr>
              <a:t>Closure/action data improves future runs</a:t>
            </a:r>
          </a:p>
        </p:txBody>
      </p:sp>
      <p:sp>
        <p:nvSpPr>
          <p:cNvPr id="43" name="Left Arrow 42"/>
          <p:cNvSpPr/>
          <p:nvPr/>
        </p:nvSpPr>
        <p:spPr>
          <a:xfrm>
            <a:off x="1920240" y="5010912"/>
            <a:ext cx="8138160" cy="201168"/>
          </a:xfrm>
          <a:prstGeom prst="left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39" y="4910328"/>
            <a:ext cx="4434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 i="0">
                <a:solidFill>
                  <a:srgbClr val="16A34A"/>
                </a:solidFill>
                <a:latin typeface="Aptos"/>
              </a:rPr>
              <a:t>Feedback loop: action / closure data improves tomorrow's priority queue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" y="5468112"/>
            <a:ext cx="10378440" cy="384048"/>
          </a:xfrm>
          <a:prstGeom prst="roundRect">
            <a:avLst>
              <a:gd name="adj" fmla="val 8000"/>
            </a:avLst>
          </a:prstGeom>
          <a:solidFill>
            <a:srgbClr val="ECF9F0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" y="5559552"/>
            <a:ext cx="10012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1" i="0">
                <a:solidFill>
                  <a:srgbClr val="0F172A"/>
                </a:solidFill>
                <a:latin typeface="Aptos"/>
              </a:rPr>
              <a:t>The same workflow is useful today with batch records, and becomes measured after closure/action feeds arrive.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Source: ParkPulse pipeline outputs from the provided Theme-1 enforcement dataset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DATA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What we observe, what we model, what is a proxy, and what is absent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06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Trust comes from labelling every claim: direct observation, modelled signal, transparent proxy or unavailable feed.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2011680"/>
            <a:ext cx="2578608" cy="3273552"/>
          </a:xfrm>
          <a:prstGeom prst="roundRect">
            <a:avLst>
              <a:gd name="adj" fmla="val 8000"/>
            </a:avLst>
          </a:prstGeom>
          <a:solidFill>
            <a:srgbClr val="ECF9F0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" y="2011680"/>
            <a:ext cx="54864" cy="32735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121408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Observed directly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2459736"/>
            <a:ext cx="230428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Location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Timestamp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Police station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Vehicle class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Violation text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Validation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6704" y="2011680"/>
            <a:ext cx="2578608" cy="327355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46704" y="2011680"/>
            <a:ext cx="54864" cy="3273552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1296" y="2121408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Modelled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1296" y="2459736"/>
            <a:ext cx="230428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Recurrence risk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Hotspot persistence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Exposure-adjusted ranking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Patrol-coverage gap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11680"/>
            <a:ext cx="2578608" cy="3273552"/>
          </a:xfrm>
          <a:prstGeom prst="roundRect">
            <a:avLst>
              <a:gd name="adj" fmla="val 8000"/>
            </a:avLst>
          </a:prstGeom>
          <a:solidFill>
            <a:srgbClr val="FFF1E8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011680"/>
            <a:ext cx="54864" cy="3273552"/>
          </a:xfrm>
          <a:prstGeom prst="rect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121408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Transparent proxy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459736"/>
            <a:ext cx="230428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Obstruction-risk score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Queue-spillback risk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Equivalent lane recovery minutes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Traffic-flow impact estimate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9408" y="2011680"/>
            <a:ext cx="2578608" cy="3273552"/>
          </a:xfrm>
          <a:prstGeom prst="roundRect">
            <a:avLst>
              <a:gd name="adj" fmla="val 8000"/>
            </a:avLst>
          </a:prstGeom>
          <a:solidFill>
            <a:srgbClr val="FEEEEE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79408" y="2011680"/>
            <a:ext cx="54864" cy="32735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121408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Not 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59736"/>
            <a:ext cx="230428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Measured speed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Queue length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Closure timestamp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Before-after enforcement 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669280"/>
            <a:ext cx="10881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Therefore: ParkPulse claims decision-support and impact-weighted prioritization today, not exact km/h improvement.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Source: ParkPulse pipeline outputs from the provided Theme-1 enforcement dataset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BIAS STRESS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ParkPulse is not fooled by where enforcement is already visible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07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High counts may mean true pressure, but they may also mean more officers, devices and validation coverage.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938528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938528"/>
            <a:ext cx="45720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011680"/>
            <a:ext cx="2130551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0.85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322576"/>
            <a:ext cx="213055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1" i="0">
                <a:solidFill>
                  <a:srgbClr val="738092"/>
                </a:solidFill>
                <a:latin typeface="Aptos"/>
              </a:rPr>
              <a:t>raw count vs recording exposure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1938528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1938528"/>
            <a:ext cx="45720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2011680"/>
            <a:ext cx="2130551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58%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2322576"/>
            <a:ext cx="213055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1" i="0">
                <a:solidFill>
                  <a:srgbClr val="738092"/>
                </a:solidFill>
                <a:latin typeface="Aptos"/>
              </a:rPr>
              <a:t>records with validation timestamp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1938528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60" y="1938528"/>
            <a:ext cx="45720" cy="658368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0176" y="2011680"/>
            <a:ext cx="2130551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80.0%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0176" y="2322576"/>
            <a:ext cx="213055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1" i="0">
                <a:solidFill>
                  <a:srgbClr val="738092"/>
                </a:solidFill>
                <a:latin typeface="Aptos"/>
              </a:rPr>
              <a:t>robust top-20 overlap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1938528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58200" y="1938528"/>
            <a:ext cx="45720" cy="658368"/>
          </a:xfrm>
          <a:prstGeom prst="rect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86216" y="2011680"/>
            <a:ext cx="2130551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367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86216" y="2322576"/>
            <a:ext cx="213055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1" i="0">
                <a:solidFill>
                  <a:srgbClr val="738092"/>
                </a:solidFill>
                <a:latin typeface="Aptos"/>
              </a:rPr>
              <a:t>18-22 records: coverage risk</a:t>
            </a:r>
          </a:p>
        </p:txBody>
      </p:sp>
      <p:pic>
        <p:nvPicPr>
          <p:cNvPr id="30" name="Picture 29" descr="topk_overlap_all_vs_high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999232"/>
            <a:ext cx="4206240" cy="233680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5230368" y="2971800"/>
            <a:ext cx="2359152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40096" y="3090672"/>
            <a:ext cx="2139696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1" i="0">
                <a:solidFill>
                  <a:srgbClr val="0F172A"/>
                </a:solidFill>
                <a:latin typeface="Aptos"/>
              </a:rPr>
              <a:t>Recording exposure bias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726679" y="3090672"/>
            <a:ext cx="347472" cy="146304"/>
          </a:xfrm>
          <a:prstGeom prst="right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93024" y="2971800"/>
            <a:ext cx="269748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3090672"/>
            <a:ext cx="246888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1" i="0">
                <a:solidFill>
                  <a:srgbClr val="DC2626"/>
                </a:solidFill>
                <a:latin typeface="Aptos"/>
              </a:rPr>
              <a:t>Exposure-adjusted ranking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30368" y="3593592"/>
            <a:ext cx="2359152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0096" y="3712464"/>
            <a:ext cx="2139696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1" i="0">
                <a:solidFill>
                  <a:srgbClr val="0F172A"/>
                </a:solidFill>
                <a:latin typeface="Aptos"/>
              </a:rPr>
              <a:t>Validation gaps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726679" y="3712464"/>
            <a:ext cx="347472" cy="146304"/>
          </a:xfrm>
          <a:prstGeom prst="right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93024" y="3593592"/>
            <a:ext cx="269748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2" y="3712464"/>
            <a:ext cx="246888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1" i="0">
                <a:solidFill>
                  <a:srgbClr val="16A34A"/>
                </a:solidFill>
                <a:latin typeface="Aptos"/>
              </a:rPr>
              <a:t>Confidence bands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30368" y="4215384"/>
            <a:ext cx="2359152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B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0096" y="4334256"/>
            <a:ext cx="2139696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1" i="0">
                <a:solidFill>
                  <a:srgbClr val="0F172A"/>
                </a:solidFill>
                <a:latin typeface="Aptos"/>
              </a:rPr>
              <a:t>Sparse evening records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726679" y="4334256"/>
            <a:ext cx="347472" cy="146304"/>
          </a:xfrm>
          <a:prstGeom prst="rightArrow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193024" y="4215384"/>
            <a:ext cx="269748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B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2752" y="4334256"/>
            <a:ext cx="246888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1" i="0">
                <a:solidFill>
                  <a:srgbClr val="FB641B"/>
                </a:solidFill>
                <a:latin typeface="Aptos"/>
              </a:rPr>
              <a:t>Coverage-risk warning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30368" y="4837176"/>
            <a:ext cx="2359152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87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0096" y="4956048"/>
            <a:ext cx="2139696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1" i="0">
                <a:solidFill>
                  <a:srgbClr val="0F172A"/>
                </a:solidFill>
                <a:latin typeface="Aptos"/>
              </a:rPr>
              <a:t>All vs high-confidence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7726679" y="4956048"/>
            <a:ext cx="347472" cy="146304"/>
          </a:xfrm>
          <a:prstGeom prst="rightArrow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93024" y="4837176"/>
            <a:ext cx="2697480" cy="420624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287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2752" y="4956048"/>
            <a:ext cx="246888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40" b="1" i="0">
                <a:solidFill>
                  <a:srgbClr val="2874F0"/>
                </a:solidFill>
                <a:latin typeface="Aptos"/>
              </a:rPr>
              <a:t>Robustness check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30368" y="5623560"/>
            <a:ext cx="5650992" cy="384048"/>
          </a:xfrm>
          <a:prstGeom prst="roundRect">
            <a:avLst>
              <a:gd name="adj" fmla="val 8000"/>
            </a:avLst>
          </a:prstGeom>
          <a:solidFill>
            <a:srgbClr val="FFF1E8"/>
          </a:solidFill>
          <a:ln w="12700">
            <a:solidFill>
              <a:srgbClr val="FB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31536" y="5715000"/>
            <a:ext cx="52486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 i="0">
                <a:solidFill>
                  <a:srgbClr val="0F172A"/>
                </a:solidFill>
                <a:latin typeface="Aptos"/>
              </a:rPr>
              <a:t>367 evening records is a coverage warning, not proof that evening risk is absent.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Source: ParkPulse pipeline outputs from the provided Theme-1 enforcement dataset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Why this is a targeted-enforcement problem, not generic 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08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Obstruction pressure is concentrated, repeat vehicles matter, and road-space context changes enforcement priority.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4114800" cy="249548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10912" y="1993392"/>
            <a:ext cx="2057400" cy="1005840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10912" y="1993392"/>
            <a:ext cx="54864" cy="100584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4" y="2103120"/>
            <a:ext cx="1801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Concentrated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441448"/>
            <a:ext cx="17830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Top 5 percent of cells hold about 65.5 percent of weighted obstruction.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1993392"/>
            <a:ext cx="2057400" cy="1005840"/>
          </a:xfrm>
          <a:prstGeom prst="roundRect">
            <a:avLst>
              <a:gd name="adj" fmla="val 8000"/>
            </a:avLst>
          </a:prstGeom>
          <a:solidFill>
            <a:srgbClr val="F0EE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54864" cy="1005840"/>
          </a:xfrm>
          <a:prstGeom prst="rect">
            <a:avLst/>
          </a:prstGeom>
          <a:solidFill>
            <a:srgbClr val="6D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1504" y="2103120"/>
            <a:ext cx="1801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Repeating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4" y="2441448"/>
            <a:ext cx="17830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34.2 percent of known-vehicle records repeat at least twice.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2912" y="1993392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FFF1E8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82912" y="1993392"/>
            <a:ext cx="54864" cy="1005840"/>
          </a:xfrm>
          <a:prstGeom prst="rect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47504" y="2103120"/>
            <a:ext cx="16184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Chronic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7504" y="2441448"/>
            <a:ext cx="1600199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18.3 percent of known records are 3+ occurrence vehicles.</a:t>
            </a:r>
          </a:p>
        </p:txBody>
      </p:sp>
      <p:pic>
        <p:nvPicPr>
          <p:cNvPr id="27" name="Picture 26" descr="theme_context_signal_weighted_ob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401568"/>
            <a:ext cx="6080760" cy="331677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14400" y="5687568"/>
            <a:ext cx="10058400" cy="347472"/>
          </a:xfrm>
          <a:prstGeom prst="roundRect">
            <a:avLst>
              <a:gd name="adj" fmla="val 8000"/>
            </a:avLst>
          </a:prstGeom>
          <a:solidFill>
            <a:srgbClr val="081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5769864"/>
            <a:ext cx="9656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This is why enforcement should be targeted, not evenly spread.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Source: ParkPulse pipeline outputs from the provided Theme-1 enforcement dataset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PRODUCT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ParkPulse is a five-layer operating system for enforcement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09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The architecture converts raw enforcement records into ranked actions, not just visualizations.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011680"/>
            <a:ext cx="1993392" cy="3090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87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2212848"/>
            <a:ext cx="749808" cy="256032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240279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FFFFF"/>
                </a:solidFill>
                <a:latin typeface="Aptos"/>
              </a:rPr>
              <a:t>Layer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633472"/>
            <a:ext cx="1719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1" i="0">
                <a:solidFill>
                  <a:srgbClr val="0F172A"/>
                </a:solidFill>
                <a:latin typeface="Aptos"/>
              </a:rPr>
              <a:t>Data clean-room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1832" y="3310128"/>
            <a:ext cx="1344168" cy="0"/>
          </a:xfrm>
          <a:prstGeom prst="line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86384" y="3456432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738092"/>
                </a:solidFill>
                <a:latin typeface="Aptos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767328"/>
            <a:ext cx="1664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Violation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315968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738092"/>
                </a:solidFill>
                <a:latin typeface="Aptos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626864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Normalised fields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633472" y="3246120"/>
            <a:ext cx="228600" cy="201168"/>
          </a:xfrm>
          <a:prstGeom prst="rightArrow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89504" y="2011680"/>
            <a:ext cx="1993392" cy="3090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6D5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017520" y="2212848"/>
            <a:ext cx="749808" cy="256032"/>
          </a:xfrm>
          <a:prstGeom prst="roundRect">
            <a:avLst>
              <a:gd name="adj" fmla="val 8000"/>
            </a:avLst>
          </a:prstGeom>
          <a:solidFill>
            <a:srgbClr val="6D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240279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FFFFF"/>
                </a:solidFill>
                <a:latin typeface="Aptos"/>
              </a:rPr>
              <a:t>Layer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6664" y="2633472"/>
            <a:ext cx="1719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1" i="0">
                <a:solidFill>
                  <a:srgbClr val="0F172A"/>
                </a:solidFill>
                <a:latin typeface="Aptos"/>
              </a:rPr>
              <a:t>Hotspot engine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09544" y="3310128"/>
            <a:ext cx="1344168" cy="0"/>
          </a:xfrm>
          <a:prstGeom prst="line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54096" y="3456432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738092"/>
                </a:solidFill>
                <a:latin typeface="Aptos"/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54096" y="3767328"/>
            <a:ext cx="1664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Lat/lon +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4096" y="4315968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73809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54096" y="4626864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250m cells + corridors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901184" y="3246120"/>
            <a:ext cx="228600" cy="201168"/>
          </a:xfrm>
          <a:prstGeom prst="rightArrow">
            <a:avLst/>
          </a:prstGeom>
          <a:solidFill>
            <a:srgbClr val="6D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157216" y="2011680"/>
            <a:ext cx="1993392" cy="3090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B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85231" y="2212848"/>
            <a:ext cx="749808" cy="256032"/>
          </a:xfrm>
          <a:prstGeom prst="roundRect">
            <a:avLst>
              <a:gd name="adj" fmla="val 8000"/>
            </a:avLst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85231" y="2240279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FFFFF"/>
                </a:solidFill>
                <a:latin typeface="Aptos"/>
              </a:rPr>
              <a:t>Layer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4376" y="2633472"/>
            <a:ext cx="1719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1" i="0">
                <a:solidFill>
                  <a:srgbClr val="0F172A"/>
                </a:solidFill>
                <a:latin typeface="Aptos"/>
              </a:rPr>
              <a:t>Scoring + model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77255" y="3310128"/>
            <a:ext cx="1344169" cy="0"/>
          </a:xfrm>
          <a:prstGeom prst="line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321807" y="3456432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738092"/>
                </a:solidFill>
                <a:latin typeface="Aptos"/>
              </a:rPr>
              <a:t>Input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1807" y="3767328"/>
            <a:ext cx="1664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History + 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1807" y="4315968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738092"/>
                </a:solidFill>
                <a:latin typeface="Aptos"/>
              </a:rPr>
              <a:t>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21807" y="4626864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Recurrence + obstruction risk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168896" y="3246120"/>
            <a:ext cx="228600" cy="201168"/>
          </a:xfrm>
          <a:prstGeom prst="rightArrow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424927" y="2011680"/>
            <a:ext cx="1993392" cy="3090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552944" y="2212848"/>
            <a:ext cx="749808" cy="256032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2240279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FFFFF"/>
                </a:solidFill>
                <a:latin typeface="Aptos"/>
              </a:rPr>
              <a:t>Layer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62088" y="2633472"/>
            <a:ext cx="1719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1" i="0">
                <a:solidFill>
                  <a:srgbClr val="0F172A"/>
                </a:solidFill>
                <a:latin typeface="Aptos"/>
              </a:rPr>
              <a:t>Action engine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744967" y="3310128"/>
            <a:ext cx="1344169" cy="0"/>
          </a:xfrm>
          <a:prstGeom prst="line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589519" y="3456432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738092"/>
                </a:solidFill>
                <a:latin typeface="Aptos"/>
              </a:rPr>
              <a:t>Input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19" y="3767328"/>
            <a:ext cx="1664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Risk + resources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19" y="4315968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738092"/>
                </a:solidFill>
                <a:latin typeface="Aptos"/>
              </a:rPr>
              <a:t>Output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19" y="4626864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Tow/patrol/engineering plans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9436608" y="3246120"/>
            <a:ext cx="228600" cy="201168"/>
          </a:xfrm>
          <a:prstGeom prst="right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692640" y="2011680"/>
            <a:ext cx="1993392" cy="3090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0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820656" y="2212848"/>
            <a:ext cx="749808" cy="256032"/>
          </a:xfrm>
          <a:prstGeom prst="roundRect">
            <a:avLst>
              <a:gd name="adj" fmla="val 8000"/>
            </a:avLst>
          </a:prstGeom>
          <a:solidFill>
            <a:srgbClr val="10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20656" y="2240279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FFFFF"/>
                </a:solidFill>
                <a:latin typeface="Aptos"/>
              </a:rPr>
              <a:t>Layer 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2633472"/>
            <a:ext cx="1719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1" i="0">
                <a:solidFill>
                  <a:srgbClr val="0F172A"/>
                </a:solidFill>
                <a:latin typeface="Aptos"/>
              </a:rPr>
              <a:t>Command product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012680" y="3310128"/>
            <a:ext cx="1344168" cy="0"/>
          </a:xfrm>
          <a:prstGeom prst="line">
            <a:avLst/>
          </a:prstGeom>
          <a:ln w="12700">
            <a:solidFill>
              <a:srgbClr val="D8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857232" y="3456432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738092"/>
                </a:solidFill>
                <a:latin typeface="Aptos"/>
              </a:rPr>
              <a:t>Input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57232" y="3767328"/>
            <a:ext cx="16642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Plans + maps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57232" y="4315968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738092"/>
                </a:solidFill>
                <a:latin typeface="Aptos"/>
              </a:rPr>
              <a:t>Output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57232" y="4626864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0" i="0">
                <a:solidFill>
                  <a:srgbClr val="475569"/>
                </a:solidFill>
                <a:latin typeface="Aptos"/>
              </a:rPr>
              <a:t>Briefs, simulator, queue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Source: ParkPulse pipeline outputs from the provided Theme-1 enforcement dataset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DATA SCIENCE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We optimize for top-K operational capture, not generic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10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The modelling question is: which few zones should receive scarce enforcement capacity first?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93392"/>
            <a:ext cx="33101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1993392"/>
            <a:ext cx="54864" cy="114300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103120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Spatial 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441448"/>
            <a:ext cx="303580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250m grid / hotspot cell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1993392"/>
            <a:ext cx="33101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1993392"/>
            <a:ext cx="54864" cy="1143000"/>
          </a:xfrm>
          <a:prstGeom prst="rect">
            <a:avLst/>
          </a:prstGeom>
          <a:solidFill>
            <a:srgbClr val="6D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79" y="2103120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Temporal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2441448"/>
            <a:ext cx="303580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Date x enforcement time-window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1993392"/>
            <a:ext cx="33101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1993392"/>
            <a:ext cx="54864" cy="1143000"/>
          </a:xfrm>
          <a:prstGeom prst="rect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103120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441448"/>
            <a:ext cx="303580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Lagged counts, rolling means, exposure, validation, vehicle obstruction, road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529584"/>
            <a:ext cx="33101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529584"/>
            <a:ext cx="54864" cy="1143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3639312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3977640"/>
            <a:ext cx="303580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Next-day / next-window recurrence and pressure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61688" y="3529584"/>
            <a:ext cx="33101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61688" y="3529584"/>
            <a:ext cx="54864" cy="1143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79" y="3639312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79" y="3977640"/>
            <a:ext cx="303580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Time-safe split; no random future leakage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5008" y="3529584"/>
            <a:ext cx="33101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65008" y="3529584"/>
            <a:ext cx="54864" cy="1143000"/>
          </a:xfrm>
          <a:prstGeom prst="rect">
            <a:avLst/>
          </a:prstGeom>
          <a:solidFill>
            <a:srgbClr val="10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639312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977640"/>
            <a:ext cx="303580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Capture@K, NDCG@K, Precision@K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8992" y="5138928"/>
            <a:ext cx="1975104" cy="502920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2144" y="5285232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Aptos"/>
              </a:rPr>
              <a:t>Features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136391" y="5294376"/>
            <a:ext cx="256032" cy="155448"/>
          </a:xfrm>
          <a:prstGeom prst="rightArrow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21024" y="5138928"/>
            <a:ext cx="1975104" cy="502920"/>
          </a:xfrm>
          <a:prstGeom prst="roundRect">
            <a:avLst>
              <a:gd name="adj" fmla="val 8000"/>
            </a:avLst>
          </a:prstGeom>
          <a:solidFill>
            <a:srgbClr val="6D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94176" y="5285232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Aptos"/>
              </a:rPr>
              <a:t>Target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678424" y="5294376"/>
            <a:ext cx="256032" cy="155448"/>
          </a:xfrm>
          <a:prstGeom prst="rightArrow">
            <a:avLst/>
          </a:prstGeom>
          <a:solidFill>
            <a:srgbClr val="6D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63055" y="5138928"/>
            <a:ext cx="1975104" cy="502920"/>
          </a:xfrm>
          <a:prstGeom prst="roundRect">
            <a:avLst>
              <a:gd name="adj" fmla="val 8000"/>
            </a:avLst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36207" y="5285232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Aptos"/>
              </a:rPr>
              <a:t>Top-K ranking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220455" y="5294376"/>
            <a:ext cx="256032" cy="155448"/>
          </a:xfrm>
          <a:prstGeom prst="rightArrow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705088" y="5138928"/>
            <a:ext cx="1975104" cy="50292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0" y="5285232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Aptos"/>
              </a:rPr>
              <a:t>Enforcement queue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" y="5870448"/>
            <a:ext cx="10058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1" i="0">
                <a:solidFill>
                  <a:srgbClr val="0F172A"/>
                </a:solidFill>
                <a:latin typeface="Aptos"/>
              </a:rPr>
              <a:t>Why top-K? Police need the best first 10-20 actions before the shift starts, not a perfect city-wide regression score.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Source: ParkPulse pipeline outputs from the provided Theme-1 enforcement dataset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WHY RAW DENSITY IS NOT ENOUGH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A heatmap finds where violations were recorded; ParkPulse finds where enforcement should go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11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Prediction and action are different jobs: recurrence is only the first filter.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057400"/>
            <a:ext cx="320040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267712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0F172A"/>
                </a:solidFill>
                <a:latin typeface="Aptos"/>
              </a:rPr>
              <a:t>High count + high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880360"/>
            <a:ext cx="2743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10" b="0" i="0">
                <a:solidFill>
                  <a:srgbClr val="475569"/>
                </a:solidFill>
                <a:latin typeface="Aptos"/>
              </a:rPr>
              <a:t>May already be heavily patrolled; do not blindly over-allocate.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3950208"/>
            <a:ext cx="2688336" cy="411480"/>
          </a:xfrm>
          <a:prstGeom prst="roundRect">
            <a:avLst>
              <a:gd name="adj" fmla="val 8000"/>
            </a:avLst>
          </a:prstGeom>
          <a:solidFill>
            <a:srgbClr val="FEEEEE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059936"/>
            <a:ext cx="25420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0F172A"/>
                </a:solidFill>
                <a:latin typeface="Aptos"/>
              </a:rPr>
              <a:t>Correct with exposure adjustment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057400"/>
            <a:ext cx="320040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FB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267712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0F172A"/>
                </a:solidFill>
                <a:latin typeface="Aptos"/>
              </a:rPr>
              <a:t>Medium count + heavy vehicles + junction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880360"/>
            <a:ext cx="2743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10" b="0" i="0">
                <a:solidFill>
                  <a:srgbClr val="475569"/>
                </a:solidFill>
                <a:latin typeface="Aptos"/>
              </a:rPr>
              <a:t>Can block running lanes and spill queues despite fewer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6864" y="3950208"/>
            <a:ext cx="2688336" cy="411480"/>
          </a:xfrm>
          <a:prstGeom prst="roundRect">
            <a:avLst>
              <a:gd name="adj" fmla="val 8000"/>
            </a:avLst>
          </a:prstGeom>
          <a:solidFill>
            <a:srgbClr val="FFF1E8"/>
          </a:solidFill>
          <a:ln w="12700">
            <a:solidFill>
              <a:srgbClr val="FB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4059936"/>
            <a:ext cx="25420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0F172A"/>
                </a:solidFill>
                <a:latin typeface="Aptos"/>
              </a:rPr>
              <a:t>Raise obstruction priority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1" y="2057400"/>
            <a:ext cx="320040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87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1" y="2267712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0F172A"/>
                </a:solidFill>
                <a:latin typeface="Aptos"/>
              </a:rPr>
              <a:t>Emerging hotspot + low past exposure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2880360"/>
            <a:ext cx="2743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10" b="0" i="0">
                <a:solidFill>
                  <a:srgbClr val="475569"/>
                </a:solidFill>
                <a:latin typeface="Aptos"/>
              </a:rPr>
              <a:t>Hidden risk can be missed by raw historic density.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3" y="3950208"/>
            <a:ext cx="2688336" cy="411480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287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5" y="4059936"/>
            <a:ext cx="25420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" b="1" i="0">
                <a:solidFill>
                  <a:srgbClr val="0F172A"/>
                </a:solidFill>
                <a:latin typeface="Aptos"/>
              </a:rPr>
              <a:t>Flag patrol gap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486400"/>
            <a:ext cx="10058400" cy="384048"/>
          </a:xfrm>
          <a:prstGeom prst="roundRect">
            <a:avLst>
              <a:gd name="adj" fmla="val 8000"/>
            </a:avLst>
          </a:prstGeom>
          <a:solidFill>
            <a:srgbClr val="ECF9F0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5577840"/>
            <a:ext cx="9710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1" i="0">
                <a:solidFill>
                  <a:srgbClr val="0F172A"/>
                </a:solidFill>
                <a:latin typeface="Aptos"/>
              </a:rPr>
              <a:t>ParkPulse first predicts recurrence, then adds obstruction severity, confidence, action type and officer-hour ROI.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Source: ParkPulse pipeline outputs from the provided Theme-1 enforcement dataset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SCORING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Prediction, explanation and dispatch are deliberately separate 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12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A single magic score is fragile; ParkPulse separates recurrence, obstruction explanation and resource-constrained dispatch.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029968"/>
            <a:ext cx="3246120" cy="2505456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287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249424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33D8F"/>
                </a:solidFill>
                <a:latin typeface="Aptos"/>
              </a:rPr>
              <a:t>1. Recurrence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88920"/>
            <a:ext cx="2788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19" b="0" i="0">
                <a:solidFill>
                  <a:srgbClr val="0F172A"/>
                </a:solidFill>
                <a:latin typeface="Aptos"/>
              </a:rPr>
              <a:t>Predicts where pressure returns using lagged counts, rolling windows, exposure and validation features.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05072" y="3182112"/>
            <a:ext cx="347472" cy="237744"/>
          </a:xfrm>
          <a:prstGeom prst="rightArrow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80560" y="2029968"/>
            <a:ext cx="3246120" cy="2505456"/>
          </a:xfrm>
          <a:prstGeom prst="roundRect">
            <a:avLst>
              <a:gd name="adj" fmla="val 8000"/>
            </a:avLst>
          </a:prstGeom>
          <a:solidFill>
            <a:srgbClr val="FFF1E8"/>
          </a:solidFill>
          <a:ln w="12700">
            <a:solidFill>
              <a:srgbClr val="FB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249424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B641B"/>
                </a:solidFill>
                <a:latin typeface="Aptos"/>
              </a:rPr>
              <a:t>2. Obstruction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4" y="2788920"/>
            <a:ext cx="27706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19" b="0" i="0">
                <a:solidFill>
                  <a:srgbClr val="0F172A"/>
                </a:solidFill>
                <a:latin typeface="Aptos"/>
              </a:rPr>
              <a:t>Explains severity using persistence, time pressure, junction context, vehicle footprint and repeat pressure.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799831" y="3182112"/>
            <a:ext cx="347472" cy="237744"/>
          </a:xfrm>
          <a:prstGeom prst="rightArrow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75320" y="2029968"/>
            <a:ext cx="3246120" cy="2505456"/>
          </a:xfrm>
          <a:prstGeom prst="roundRect">
            <a:avLst>
              <a:gd name="adj" fmla="val 8000"/>
            </a:avLst>
          </a:prstGeom>
          <a:solidFill>
            <a:srgbClr val="ECF9F0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2249424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6A34A"/>
                </a:solidFill>
                <a:latin typeface="Aptos"/>
              </a:rPr>
              <a:t>3. Dispatch priority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788920"/>
            <a:ext cx="2779776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19" b="0" i="0">
                <a:solidFill>
                  <a:srgbClr val="0F172A"/>
                </a:solidFill>
                <a:latin typeface="Aptos"/>
              </a:rPr>
              <a:t>Sequences field action using recovery potential, confidence, patrol gap and resource requirement.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64608"/>
            <a:ext cx="2788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33D8F"/>
                </a:solidFill>
                <a:latin typeface="Aptos"/>
              </a:rPr>
              <a:t>Predict recurrence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4864608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FB641B"/>
                </a:solidFill>
                <a:latin typeface="Aptos"/>
              </a:rPr>
              <a:t>Explain obstruction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4864608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6A34A"/>
                </a:solidFill>
                <a:latin typeface="Aptos"/>
              </a:rPr>
              <a:t>Dispatch resources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0160" y="5349240"/>
            <a:ext cx="9601200" cy="384048"/>
          </a:xfrm>
          <a:prstGeom prst="roundRect">
            <a:avLst>
              <a:gd name="adj" fmla="val 8000"/>
            </a:avLst>
          </a:prstGeom>
          <a:solidFill>
            <a:srgbClr val="081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81328" y="5440680"/>
            <a:ext cx="9189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All traffic-flow impact values are modelled proxies until speed, queue and closure feeds are connected.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Source: ParkPulse pipeline outputs from the provided Theme-1 enforcement dataset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VALIDATION + DIFFERENTIATION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Why ParkPulse beats a heatmap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13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Raw density tells us where violations return. ParkPulse tells us where limited enforcement creates the highest operational payoff.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38528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1938528"/>
            <a:ext cx="45720" cy="658368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011680"/>
            <a:ext cx="19476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15.2%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322576"/>
            <a:ext cx="19476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1" i="0">
                <a:solidFill>
                  <a:srgbClr val="738092"/>
                </a:solidFill>
                <a:latin typeface="Aptos"/>
              </a:rPr>
              <a:t>Capture@20: top-20 zones vs next-day high-pressure cells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1938528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99232" y="1938528"/>
            <a:ext cx="45720" cy="658368"/>
          </a:xfrm>
          <a:prstGeom prst="rect">
            <a:avLst/>
          </a:prstGeom>
          <a:solidFill>
            <a:srgbClr val="738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27248" y="2011680"/>
            <a:ext cx="19476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15.2%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2322576"/>
            <a:ext cx="19476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1" i="0">
                <a:solidFill>
                  <a:srgbClr val="738092"/>
                </a:solidFill>
                <a:latin typeface="Aptos"/>
              </a:rPr>
              <a:t>raw-density Capture@20: recurrence baseline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0096" y="1938528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0096" y="1938528"/>
            <a:ext cx="45720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8112" y="2011680"/>
            <a:ext cx="19476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80.0%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2322576"/>
            <a:ext cx="19476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1" i="0">
                <a:solidFill>
                  <a:srgbClr val="738092"/>
                </a:solidFill>
                <a:latin typeface="Aptos"/>
              </a:rPr>
              <a:t>top-20 overlap: all vs high-confidence records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1938528"/>
            <a:ext cx="21488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80960" y="1938528"/>
            <a:ext cx="45720" cy="658368"/>
          </a:xfrm>
          <a:prstGeom prst="rect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8976" y="2011680"/>
            <a:ext cx="19476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+40.0%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8976" y="2322576"/>
            <a:ext cx="19476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1" i="0">
                <a:solidFill>
                  <a:srgbClr val="738092"/>
                </a:solidFill>
                <a:latin typeface="Aptos"/>
              </a:rPr>
              <a:t>recovery-proxy uplift under same resources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1824" y="1938528"/>
            <a:ext cx="1243584" cy="658368"/>
          </a:xfrm>
          <a:prstGeom prst="roundRect">
            <a:avLst>
              <a:gd name="adj" fmla="val 8000"/>
            </a:avLst>
          </a:prstGeom>
          <a:solidFill>
            <a:srgbClr val="FFF1E8"/>
          </a:solidFill>
          <a:ln w="12700">
            <a:solidFill>
              <a:srgbClr val="FB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31552" y="2075688"/>
            <a:ext cx="1024128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B641B"/>
                </a:solidFill>
                <a:latin typeface="Aptos"/>
              </a:rPr>
              <a:t>Proxy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31552" y="2267712"/>
            <a:ext cx="102412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20" b="1" i="0">
                <a:solidFill>
                  <a:srgbClr val="738092"/>
                </a:solidFill>
                <a:latin typeface="Aptos"/>
              </a:rPr>
              <a:t>not live delay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971800"/>
            <a:ext cx="10835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71800"/>
            <a:ext cx="2194560" cy="373380"/>
          </a:xfrm>
          <a:prstGeom prst="rect">
            <a:avLst/>
          </a:prstGeom>
          <a:solidFill>
            <a:srgbClr val="ECF3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3008376"/>
            <a:ext cx="2103120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1" i="0">
                <a:solidFill>
                  <a:srgbClr val="133D8F"/>
                </a:solidFill>
                <a:latin typeface="Aptos"/>
              </a:rPr>
              <a:t>Decision question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52928" y="2971800"/>
            <a:ext cx="2651760" cy="373380"/>
          </a:xfrm>
          <a:prstGeom prst="rect">
            <a:avLst/>
          </a:prstGeom>
          <a:solidFill>
            <a:srgbClr val="ECF3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98648" y="3008376"/>
            <a:ext cx="2560320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1" i="0">
                <a:solidFill>
                  <a:srgbClr val="133D8F"/>
                </a:solidFill>
                <a:latin typeface="Aptos"/>
              </a:rPr>
              <a:t>Raw heatmap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04688" y="2971800"/>
            <a:ext cx="2606040" cy="373380"/>
          </a:xfrm>
          <a:prstGeom prst="rect">
            <a:avLst/>
          </a:prstGeom>
          <a:solidFill>
            <a:srgbClr val="ECF3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50407" y="3008376"/>
            <a:ext cx="2514600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1" i="0">
                <a:solidFill>
                  <a:srgbClr val="133D8F"/>
                </a:solidFill>
                <a:latin typeface="Aptos"/>
              </a:rPr>
              <a:t>Density forecast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10727" y="2971800"/>
            <a:ext cx="3383280" cy="373380"/>
          </a:xfrm>
          <a:prstGeom prst="rect">
            <a:avLst/>
          </a:prstGeom>
          <a:solidFill>
            <a:srgbClr val="ECF3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56448" y="3008376"/>
            <a:ext cx="3291840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1" i="0">
                <a:solidFill>
                  <a:srgbClr val="133D8F"/>
                </a:solidFill>
                <a:latin typeface="Aptos"/>
              </a:rPr>
              <a:t>ParkPulse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3345180"/>
            <a:ext cx="219456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3372611"/>
            <a:ext cx="2084831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695" b="1" i="0">
                <a:solidFill>
                  <a:srgbClr val="0F172A"/>
                </a:solidFill>
                <a:latin typeface="Aptos"/>
              </a:rPr>
              <a:t>What it ranks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52928" y="3345180"/>
            <a:ext cx="265176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07792" y="3372611"/>
            <a:ext cx="2542032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0" i="0">
                <a:solidFill>
                  <a:srgbClr val="475569"/>
                </a:solidFill>
                <a:latin typeface="Aptos"/>
              </a:rPr>
              <a:t>Recorded counts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04688" y="3345180"/>
            <a:ext cx="260604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59551" y="3372611"/>
            <a:ext cx="2496312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0" i="0">
                <a:solidFill>
                  <a:srgbClr val="475569"/>
                </a:solidFill>
                <a:latin typeface="Aptos"/>
              </a:rPr>
              <a:t>Where pressure returns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10727" y="3345180"/>
            <a:ext cx="338328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65592" y="3372611"/>
            <a:ext cx="3273552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0" i="0">
                <a:solidFill>
                  <a:srgbClr val="475569"/>
                </a:solidFill>
                <a:latin typeface="Aptos"/>
              </a:rPr>
              <a:t>Where enforcement should go next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3718560"/>
            <a:ext cx="219456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3745992"/>
            <a:ext cx="2084831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695" b="1" i="0">
                <a:solidFill>
                  <a:srgbClr val="0F172A"/>
                </a:solidFill>
                <a:latin typeface="Aptos"/>
              </a:rPr>
              <a:t>Bias handling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52928" y="3718560"/>
            <a:ext cx="265176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07792" y="3745992"/>
            <a:ext cx="2542032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0" i="0">
                <a:solidFill>
                  <a:srgbClr val="475569"/>
                </a:solidFill>
                <a:latin typeface="Aptos"/>
              </a:rPr>
              <a:t>Can reflect patrol/device bias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04688" y="3718560"/>
            <a:ext cx="260604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59551" y="3745992"/>
            <a:ext cx="2496312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0" i="0">
                <a:solidFill>
                  <a:srgbClr val="475569"/>
                </a:solidFill>
                <a:latin typeface="Aptos"/>
              </a:rPr>
              <a:t>Partly learns history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10727" y="3718560"/>
            <a:ext cx="338328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65592" y="3745992"/>
            <a:ext cx="3273552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0" i="0">
                <a:solidFill>
                  <a:srgbClr val="475569"/>
                </a:solidFill>
                <a:latin typeface="Aptos"/>
              </a:rPr>
              <a:t>Exposure + confidence aware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4091939"/>
            <a:ext cx="219456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" y="4119372"/>
            <a:ext cx="2084831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695" b="1" i="0">
                <a:solidFill>
                  <a:srgbClr val="0F172A"/>
                </a:solidFill>
                <a:latin typeface="Aptos"/>
              </a:rPr>
              <a:t>Traffic-flow impact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52928" y="4091939"/>
            <a:ext cx="265176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07792" y="4119372"/>
            <a:ext cx="2542032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0" i="0">
                <a:solidFill>
                  <a:srgbClr val="475569"/>
                </a:solidFill>
                <a:latin typeface="Aptos"/>
              </a:rPr>
              <a:t>None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04688" y="4091939"/>
            <a:ext cx="260604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59551" y="4119372"/>
            <a:ext cx="2496312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0" i="0">
                <a:solidFill>
                  <a:srgbClr val="475569"/>
                </a:solidFill>
                <a:latin typeface="Aptos"/>
              </a:rPr>
              <a:t>None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10727" y="4091939"/>
            <a:ext cx="338328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65592" y="4119372"/>
            <a:ext cx="3273552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0" i="0">
                <a:solidFill>
                  <a:srgbClr val="475569"/>
                </a:solidFill>
                <a:latin typeface="Aptos"/>
              </a:rPr>
              <a:t>Obstruction and spillback proxies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" y="4465320"/>
            <a:ext cx="219456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3232" y="4492752"/>
            <a:ext cx="2084831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695" b="1" i="0">
                <a:solidFill>
                  <a:srgbClr val="0F172A"/>
                </a:solidFill>
                <a:latin typeface="Aptos"/>
              </a:rPr>
              <a:t>Action output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52928" y="4465320"/>
            <a:ext cx="265176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07792" y="4492752"/>
            <a:ext cx="2542032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0" i="0">
                <a:solidFill>
                  <a:srgbClr val="475569"/>
                </a:solidFill>
                <a:latin typeface="Aptos"/>
              </a:rPr>
              <a:t>No tow/patrol guidance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04688" y="4465320"/>
            <a:ext cx="260604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59551" y="4492752"/>
            <a:ext cx="2496312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0" i="0">
                <a:solidFill>
                  <a:srgbClr val="475569"/>
                </a:solidFill>
                <a:latin typeface="Aptos"/>
              </a:rPr>
              <a:t>No dispatch guidance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10727" y="4465320"/>
            <a:ext cx="338328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65592" y="4492752"/>
            <a:ext cx="3273552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0" i="0">
                <a:solidFill>
                  <a:srgbClr val="475569"/>
                </a:solidFill>
                <a:latin typeface="Aptos"/>
              </a:rPr>
              <a:t>Tow, patrol, fixed-window or engineering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8368" y="4838700"/>
            <a:ext cx="219456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" y="4866132"/>
            <a:ext cx="2084831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695" b="1" i="0">
                <a:solidFill>
                  <a:srgbClr val="0F172A"/>
                </a:solidFill>
                <a:latin typeface="Aptos"/>
              </a:rPr>
              <a:t>Field usability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852928" y="4838700"/>
            <a:ext cx="265176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07792" y="4866132"/>
            <a:ext cx="2542032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0" i="0">
                <a:solidFill>
                  <a:srgbClr val="475569"/>
                </a:solidFill>
                <a:latin typeface="Aptos"/>
              </a:rPr>
              <a:t>Map only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04688" y="4838700"/>
            <a:ext cx="260604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59551" y="4866132"/>
            <a:ext cx="2496312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0" i="0">
                <a:solidFill>
                  <a:srgbClr val="475569"/>
                </a:solidFill>
                <a:latin typeface="Aptos"/>
              </a:rPr>
              <a:t>Prediction list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10727" y="4838700"/>
            <a:ext cx="3383280" cy="37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65592" y="4866132"/>
            <a:ext cx="3273552" cy="327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95" b="0" i="0">
                <a:solidFill>
                  <a:srgbClr val="475569"/>
                </a:solidFill>
                <a:latin typeface="Aptos"/>
              </a:rPr>
              <a:t>Brief: location, reason, SLA, resource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14400" y="5614416"/>
            <a:ext cx="10058400" cy="393192"/>
          </a:xfrm>
          <a:prstGeom prst="roundRect">
            <a:avLst>
              <a:gd name="adj" fmla="val 8000"/>
            </a:avLst>
          </a:prstGeom>
          <a:solidFill>
            <a:srgbClr val="F0EEFF"/>
          </a:solidFill>
          <a:ln w="12700">
            <a:solidFill>
              <a:srgbClr val="6D5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78992" y="5715000"/>
            <a:ext cx="97292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1" i="0">
                <a:solidFill>
                  <a:srgbClr val="0F172A"/>
                </a:solidFill>
                <a:latin typeface="Aptos"/>
              </a:rPr>
              <a:t>Prediction layer finds where pressure returns. Action layer decides what to do with scarce patrol and tow capacity.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Source: ParkPulse pipeline outputs from the provided Theme-1 enforcement dataset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PRODUCT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Command Center: one city map, six decision numbers, one priority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14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The control room sees what to act on first, not a generic traffic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" y="1865376"/>
            <a:ext cx="7891272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m_command_cent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1952"/>
            <a:ext cx="7818120" cy="431596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549640" y="1993392"/>
            <a:ext cx="2788920" cy="71323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49640" y="1993392"/>
            <a:ext cx="54864" cy="713232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2103120"/>
            <a:ext cx="25328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KPI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2441448"/>
            <a:ext cx="25146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Six decision numbers for the shift.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2852928"/>
            <a:ext cx="2788920" cy="713232"/>
          </a:xfrm>
          <a:prstGeom prst="roundRect">
            <a:avLst>
              <a:gd name="adj" fmla="val 8000"/>
            </a:avLst>
          </a:prstGeom>
          <a:solidFill>
            <a:srgbClr val="FFF1E8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49640" y="2852928"/>
            <a:ext cx="54864" cy="713232"/>
          </a:xfrm>
          <a:prstGeom prst="rect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4232" y="2962656"/>
            <a:ext cx="25328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Risk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3300984"/>
            <a:ext cx="25146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Basemap + inferred corridor-risk lanes.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3712463"/>
            <a:ext cx="2788920" cy="713232"/>
          </a:xfrm>
          <a:prstGeom prst="roundRect">
            <a:avLst>
              <a:gd name="adj" fmla="val 8000"/>
            </a:avLst>
          </a:prstGeom>
          <a:solidFill>
            <a:srgbClr val="ECF9F0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49640" y="3712463"/>
            <a:ext cx="54864" cy="7132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14232" y="3822191"/>
            <a:ext cx="25328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Priority queue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4232" y="4160520"/>
            <a:ext cx="25146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Top actions ordered by payoff.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9640" y="4572000"/>
            <a:ext cx="2788920" cy="713232"/>
          </a:xfrm>
          <a:prstGeom prst="roundRect">
            <a:avLst>
              <a:gd name="adj" fmla="val 8000"/>
            </a:avLst>
          </a:prstGeom>
          <a:solidFill>
            <a:srgbClr val="F0EE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49640" y="4572000"/>
            <a:ext cx="54864" cy="713232"/>
          </a:xfrm>
          <a:prstGeom prst="rect">
            <a:avLst/>
          </a:prstGeom>
          <a:solidFill>
            <a:srgbClr val="6D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14232" y="4681728"/>
            <a:ext cx="25328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Proxy 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4232" y="5020056"/>
            <a:ext cx="25146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Impact estimates are clearly marked.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49640" y="5468112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081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68512" y="5559552"/>
            <a:ext cx="25511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 i="0">
                <a:solidFill>
                  <a:srgbClr val="FFFFFF"/>
                </a:solidFill>
                <a:latin typeface="Aptos"/>
              </a:rPr>
              <a:t>Built as a working product, not a mock chart.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Live screenshot from the ParkPulse React prototype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PRODUCT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Station inspector and field officer: from hotspot explanation to action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15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A hotspot card answers: where, when, why, what action, confidence, deadline and required resource.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" y="1883664"/>
            <a:ext cx="6108192" cy="4142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m_hotspot_fiel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6035040" cy="40690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812280" y="1938528"/>
            <a:ext cx="443484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87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176272"/>
            <a:ext cx="3950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F172A"/>
                </a:solidFill>
                <a:latin typeface="Aptos"/>
              </a:rPr>
              <a:t>Field 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2670048"/>
            <a:ext cx="868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1" i="0">
                <a:solidFill>
                  <a:srgbClr val="2874F0"/>
                </a:solidFill>
                <a:latin typeface="Aptos"/>
              </a:rPr>
              <a:t>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2651760"/>
            <a:ext cx="2999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70" b="0" i="0">
                <a:solidFill>
                  <a:srgbClr val="475569"/>
                </a:solidFill>
                <a:latin typeface="Aptos"/>
              </a:rPr>
              <a:t>Outer Ring Road, Marathahalli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063240"/>
            <a:ext cx="868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1" i="0">
                <a:solidFill>
                  <a:srgbClr val="2874F0"/>
                </a:solidFill>
                <a:latin typeface="Aptos"/>
              </a:rPr>
              <a:t>Best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044952"/>
            <a:ext cx="2999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70" b="0" i="0">
                <a:solidFill>
                  <a:srgbClr val="475569"/>
                </a:solidFill>
                <a:latin typeface="Aptos"/>
              </a:rPr>
              <a:t>00-06 night / early morning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7456" y="3456432"/>
            <a:ext cx="868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1" i="0">
                <a:solidFill>
                  <a:srgbClr val="2874F0"/>
                </a:solidFill>
                <a:latin typeface="Aptos"/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3438144"/>
            <a:ext cx="2999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70" b="1" i="0">
                <a:solidFill>
                  <a:srgbClr val="475569"/>
                </a:solidFill>
                <a:latin typeface="Aptos"/>
              </a:rPr>
              <a:t>Pre-position tow + patrol unit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6" y="3849624"/>
            <a:ext cx="868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1" i="0">
                <a:solidFill>
                  <a:srgbClr val="2874F0"/>
                </a:solidFill>
                <a:latin typeface="Aptos"/>
              </a:rPr>
              <a:t>Reason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3831336"/>
            <a:ext cx="2999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70" b="0" i="0">
                <a:solidFill>
                  <a:srgbClr val="475569"/>
                </a:solidFill>
                <a:latin typeface="Aptos"/>
              </a:rPr>
              <a:t>Main-road illegal parking likely blocking running lane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4242816"/>
            <a:ext cx="868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1" i="0">
                <a:solidFill>
                  <a:srgbClr val="2874F0"/>
                </a:solidFill>
                <a:latin typeface="Aptos"/>
              </a:rPr>
              <a:t>Confidence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4224528"/>
            <a:ext cx="2999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70" b="0" i="0">
                <a:solidFill>
                  <a:srgbClr val="475569"/>
                </a:solidFill>
                <a:latin typeface="Aptos"/>
              </a:rPr>
              <a:t>High confidence; validation-aware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7456" y="4636008"/>
            <a:ext cx="868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1" i="0">
                <a:solidFill>
                  <a:srgbClr val="2874F0"/>
                </a:solidFill>
                <a:latin typeface="Aptos"/>
              </a:rPr>
              <a:t>SLA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4617720"/>
            <a:ext cx="2999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70" b="1" i="0">
                <a:solidFill>
                  <a:srgbClr val="475569"/>
                </a:solidFill>
                <a:latin typeface="Aptos"/>
              </a:rPr>
              <a:t>Immediate clearance: within 30 minutes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6" y="5029200"/>
            <a:ext cx="868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1" i="0">
                <a:solidFill>
                  <a:srgbClr val="2874F0"/>
                </a:solidFill>
                <a:latin typeface="Aptos"/>
              </a:rPr>
              <a:t>Resource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5010912"/>
            <a:ext cx="2999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70" b="0" i="0">
                <a:solidFill>
                  <a:srgbClr val="475569"/>
                </a:solidFill>
                <a:latin typeface="Aptos"/>
              </a:rPr>
              <a:t>1 tow vehicle + 1 patrol unit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22592" y="5623560"/>
            <a:ext cx="3840480" cy="310896"/>
          </a:xfrm>
          <a:prstGeom prst="roundRect">
            <a:avLst>
              <a:gd name="adj" fmla="val 8000"/>
            </a:avLst>
          </a:prstGeom>
          <a:solidFill>
            <a:srgbClr val="ECF9F0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87184" y="5696712"/>
            <a:ext cx="351129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 i="0">
                <a:solidFill>
                  <a:srgbClr val="0F172A"/>
                </a:solidFill>
                <a:latin typeface="Aptos"/>
              </a:rPr>
              <a:t>This is the bridge from data science to police action.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Live screenshot from Hotspot Intelligence after basemap/corridor 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DEPLOYMENT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Limited patrol and tow resources become a measurable allocation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16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The simulator turns enforcement strategy into resource-constrained dispatch decisions before a shift begins.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" y="1865376"/>
            <a:ext cx="6611112" cy="4416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m_deployment_simulato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1952"/>
            <a:ext cx="6537960" cy="4343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0" y="1965960"/>
            <a:ext cx="3931920" cy="786384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965960"/>
            <a:ext cx="54864" cy="786384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2075688"/>
            <a:ext cx="36758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Resource 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2414015"/>
            <a:ext cx="365760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Patrol units + tow vehicles + station + time window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098280" y="2816352"/>
            <a:ext cx="310896" cy="256032"/>
          </a:xfrm>
          <a:prstGeom prst="downArrow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0" y="3127248"/>
            <a:ext cx="3931920" cy="786384"/>
          </a:xfrm>
          <a:prstGeom prst="roundRect">
            <a:avLst>
              <a:gd name="adj" fmla="val 8000"/>
            </a:avLst>
          </a:prstGeom>
          <a:solidFill>
            <a:srgbClr val="FFF1E8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127248"/>
            <a:ext cx="54864" cy="786384"/>
          </a:xfrm>
          <a:prstGeom prst="rect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9792" y="3236976"/>
            <a:ext cx="36758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Selected zones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3575304"/>
            <a:ext cx="365760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The highest payoff hotspots under the same resource budget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9098280" y="3977639"/>
            <a:ext cx="310896" cy="256032"/>
          </a:xfrm>
          <a:prstGeom prst="downArrow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0" y="4297680"/>
            <a:ext cx="3931920" cy="786384"/>
          </a:xfrm>
          <a:prstGeom prst="roundRect">
            <a:avLst>
              <a:gd name="adj" fmla="val 8000"/>
            </a:avLst>
          </a:prstGeom>
          <a:solidFill>
            <a:srgbClr val="ECF9F0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4297680"/>
            <a:ext cx="54864" cy="7863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9792" y="4407408"/>
            <a:ext cx="36758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Covered / uncovered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4745736"/>
            <a:ext cx="365760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475569"/>
                </a:solidFill>
                <a:latin typeface="Aptos"/>
              </a:rPr>
              <a:t>Covered obstruction proxy, uncovered risk and resource-hour ROI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5376672"/>
            <a:ext cx="1783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5376672"/>
            <a:ext cx="45720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43216" y="5449824"/>
            <a:ext cx="15819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845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3216" y="5760720"/>
            <a:ext cx="1581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1" i="0">
                <a:solidFill>
                  <a:srgbClr val="738092"/>
                </a:solidFill>
                <a:latin typeface="Aptos"/>
              </a:rPr>
              <a:t>standard-shift lane-recovery proxy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64040" y="5376672"/>
            <a:ext cx="1783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64040" y="5376672"/>
            <a:ext cx="45720" cy="658368"/>
          </a:xfrm>
          <a:prstGeom prst="rect">
            <a:avLst/>
          </a:prstGeom>
          <a:solidFill>
            <a:srgbClr val="6D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92056" y="5449824"/>
            <a:ext cx="15819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Aptos"/>
              </a:rPr>
              <a:t>+40.0%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2056" y="5760720"/>
            <a:ext cx="1581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1" i="0">
                <a:solidFill>
                  <a:srgbClr val="738092"/>
                </a:solidFill>
                <a:latin typeface="Aptos"/>
              </a:rPr>
              <a:t>vs raw-density dispatch; same budget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6163056"/>
            <a:ext cx="3154680" cy="219456"/>
          </a:xfrm>
          <a:prstGeom prst="roundRect">
            <a:avLst>
              <a:gd name="adj" fmla="val 8000"/>
            </a:avLst>
          </a:prstGeom>
          <a:solidFill>
            <a:srgbClr val="FFF1E8"/>
          </a:solidFill>
          <a:ln w="12700">
            <a:solidFill>
              <a:srgbClr val="FB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88352" y="6213348"/>
            <a:ext cx="2999232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20" b="1" i="0">
                <a:solidFill>
                  <a:srgbClr val="FB641B"/>
                </a:solidFill>
                <a:latin typeface="Aptos"/>
              </a:rPr>
              <a:t>Proxy planning back-test; not measured live traffic delay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Live screenshot from the ParkPulse deployment simulator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246888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Flipkart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46888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738092"/>
                </a:solidFill>
                <a:latin typeface="Aptos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2224" y="28346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2224" y="306324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6888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ParkPulse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B641B"/>
                </a:solidFill>
                <a:latin typeface="Aptos"/>
              </a:rPr>
              <a:t>ROLLOUT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F172A"/>
                </a:solidFill>
                <a:latin typeface="Aptos"/>
              </a:rPr>
              <a:t>Useful tomorrow morning, stronger as richer feeds arrive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738092"/>
                </a:solidFill>
                <a:latin typeface="Aptos"/>
              </a:rPr>
              <a:t>17 /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417320"/>
            <a:ext cx="11155680" cy="347472"/>
          </a:xfrm>
          <a:prstGeom prst="roundRect">
            <a:avLst>
              <a:gd name="adj" fmla="val 8000"/>
            </a:avLst>
          </a:prstGeom>
          <a:solidFill>
            <a:srgbClr val="ECF3FF"/>
          </a:solidFill>
          <a:ln w="12700">
            <a:solidFill>
              <a:srgbClr val="D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99616"/>
            <a:ext cx="10753344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1" i="0">
                <a:solidFill>
                  <a:srgbClr val="133D8F"/>
                </a:solidFill>
                <a:latin typeface="Aptos"/>
              </a:rPr>
              <a:t>The MVP is day-one deployable from violation records; production integrations convert proxies into measured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93392"/>
            <a:ext cx="960120" cy="256032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020824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FFFFF"/>
                </a:solidFill>
                <a:latin typeface="Aptos"/>
              </a:rPr>
              <a:t>Day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450592"/>
            <a:ext cx="2450592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450592"/>
            <a:ext cx="54864" cy="2542032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5603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Batch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898648"/>
            <a:ext cx="2176272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Decision support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Hotspot ranking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Station-wise plans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145536" y="3493008"/>
            <a:ext cx="201168" cy="182880"/>
          </a:xfrm>
          <a:prstGeom prst="rightArrow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19856" y="1993392"/>
            <a:ext cx="960120" cy="256032"/>
          </a:xfrm>
          <a:prstGeom prst="roundRect">
            <a:avLst>
              <a:gd name="adj" fmla="val 8000"/>
            </a:avLst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9856" y="2020824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FFFFF"/>
                </a:solidFill>
                <a:latin typeface="Aptos"/>
              </a:rPr>
              <a:t>30 days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9856" y="2450592"/>
            <a:ext cx="2450592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19856" y="2450592"/>
            <a:ext cx="54864" cy="2542032"/>
          </a:xfrm>
          <a:prstGeom prst="rect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4448" y="25603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Feedback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2898648"/>
            <a:ext cx="2176272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Outcome learning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Closure/tow timestamps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SLA compliance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907024" y="3493008"/>
            <a:ext cx="201168" cy="182880"/>
          </a:xfrm>
          <a:prstGeom prst="rightArrow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81344" y="1993392"/>
            <a:ext cx="960120" cy="256032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81344" y="2020824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FFFFF"/>
                </a:solidFill>
                <a:latin typeface="Aptos"/>
              </a:rPr>
              <a:t>90 days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2450592"/>
            <a:ext cx="2450592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2450592"/>
            <a:ext cx="54864" cy="2542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5936" y="25603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Measured 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2898648"/>
            <a:ext cx="2176272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Measured traffic impact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Speed + queue feeds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Before-after review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668512" y="3493008"/>
            <a:ext cx="201168" cy="182880"/>
          </a:xfrm>
          <a:prstGeom prst="right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42832" y="1993392"/>
            <a:ext cx="960120" cy="256032"/>
          </a:xfrm>
          <a:prstGeom prst="roundRect">
            <a:avLst>
              <a:gd name="adj" fmla="val 8000"/>
            </a:avLst>
          </a:prstGeom>
          <a:solidFill>
            <a:srgbClr val="6D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42832" y="2020824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FFFFFF"/>
                </a:solidFill>
                <a:latin typeface="Aptos"/>
              </a:rPr>
              <a:t>Next feeds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42832" y="2450592"/>
            <a:ext cx="2450592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42832" y="2450592"/>
            <a:ext cx="54864" cy="2542032"/>
          </a:xfrm>
          <a:prstGeom prst="rect">
            <a:avLst/>
          </a:prstGeom>
          <a:solidFill>
            <a:srgbClr val="6D5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07424" y="25603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1" i="0">
                <a:solidFill>
                  <a:srgbClr val="0F172A"/>
                </a:solidFill>
                <a:latin typeface="Aptos"/>
              </a:rPr>
              <a:t>Full command stack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7424" y="2898648"/>
            <a:ext cx="2176272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Road graph/lane width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Signal health</a:t>
            </a:r>
          </a:p>
          <a:p>
            <a:pPr>
              <a:lnSpc>
                <a:spcPct val="113000"/>
              </a:lnSpc>
              <a:spcAft>
                <a:spcPts val="100"/>
              </a:spcAft>
            </a:pPr>
            <a:r>
              <a:rPr sz="880">
                <a:solidFill>
                  <a:srgbClr val="475569"/>
                </a:solidFill>
                <a:latin typeface="Aptos"/>
              </a:rPr>
              <a:t>• Patrol roster + events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7824" y="5349240"/>
            <a:ext cx="1038758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7824" y="5349240"/>
            <a:ext cx="2194560" cy="265176"/>
          </a:xfrm>
          <a:prstGeom prst="rect">
            <a:avLst/>
          </a:prstGeom>
          <a:solidFill>
            <a:srgbClr val="ECF3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" y="5385816"/>
            <a:ext cx="21031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133D8F"/>
                </a:solidFill>
                <a:latin typeface="Aptos"/>
              </a:rPr>
              <a:t>Success metric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72384" y="5349240"/>
            <a:ext cx="8193024" cy="265176"/>
          </a:xfrm>
          <a:prstGeom prst="rect">
            <a:avLst/>
          </a:prstGeom>
          <a:solidFill>
            <a:srgbClr val="ECF3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18103" y="5385816"/>
            <a:ext cx="810158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 i="0">
                <a:solidFill>
                  <a:srgbClr val="133D8F"/>
                </a:solidFill>
                <a:latin typeface="Aptos"/>
              </a:rPr>
              <a:t>Examples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7824" y="5614416"/>
            <a:ext cx="219456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" y="5641848"/>
            <a:ext cx="208483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 i="0">
                <a:solidFill>
                  <a:srgbClr val="0F172A"/>
                </a:solidFill>
                <a:latin typeface="Aptos"/>
              </a:rPr>
              <a:t>Operational adoption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72384" y="5614416"/>
            <a:ext cx="8193024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27248" y="5641848"/>
            <a:ext cx="808329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0" i="0">
                <a:solidFill>
                  <a:srgbClr val="475569"/>
                </a:solidFill>
                <a:latin typeface="Aptos"/>
              </a:rPr>
              <a:t>Top-K capture, SLA compliance, repeat-offender reduction, officer-hour ROI, closure-time reduction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" y="6492240"/>
            <a:ext cx="749807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 i="0">
                <a:solidFill>
                  <a:srgbClr val="738092"/>
                </a:solidFill>
                <a:latin typeface="Aptos"/>
              </a:rPr>
              <a:t>Source: ParkPulse pipeline outputs from the provided Theme-1 enforcement dataset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64922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0" i="0">
                <a:solidFill>
                  <a:srgbClr val="738092"/>
                </a:solidFill>
                <a:latin typeface="Aptos"/>
              </a:rPr>
              <a:t>Proxy metrics are labelled; nothing is presented as measured live traffic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81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0292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FD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874F0"/>
                </a:solidFill>
                <a:latin typeface="Aptos"/>
              </a:rPr>
              <a:t>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466344"/>
            <a:ext cx="841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Aptos"/>
              </a:rPr>
              <a:t>Flipkart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3936" y="466344"/>
            <a:ext cx="201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C7D7F5"/>
                </a:solidFill>
                <a:latin typeface="Aptos"/>
              </a:rPr>
              <a:t>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50292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25780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466344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Aptos"/>
              </a:rPr>
              <a:t>ParkPulse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115568"/>
            <a:ext cx="10378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FFFFFF"/>
                </a:solidFill>
                <a:latin typeface="Aptos"/>
              </a:rPr>
              <a:t>Defensible today. Measurable tomorrow.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55648"/>
            <a:ext cx="98755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D814"/>
                </a:solidFill>
                <a:latin typeface="Aptos"/>
              </a:rPr>
              <a:t>ParkPulse narrows the field, explains the reason, dispatches the right resource, and learns after every shift.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61488"/>
            <a:ext cx="3346704" cy="2148840"/>
          </a:xfrm>
          <a:prstGeom prst="roundRect">
            <a:avLst>
              <a:gd name="adj" fmla="val 8000"/>
            </a:avLst>
          </a:prstGeom>
          <a:solidFill>
            <a:srgbClr val="102A55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761488"/>
            <a:ext cx="64008" cy="2148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926080"/>
            <a:ext cx="29626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30" b="1" i="0">
                <a:solidFill>
                  <a:srgbClr val="FFFFFF"/>
                </a:solidFill>
                <a:latin typeface="Aptos"/>
              </a:rPr>
              <a:t>Claim with confidence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419856"/>
            <a:ext cx="2907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D7E6FF"/>
                </a:solidFill>
                <a:latin typeface="Aptos"/>
              </a:rPr>
              <a:t>- Recurring hotspots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3730752"/>
            <a:ext cx="2907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D7E6FF"/>
                </a:solidFill>
                <a:latin typeface="Aptos"/>
              </a:rPr>
              <a:t>- Repeat/chronic pressure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4041648"/>
            <a:ext cx="2907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D7E6FF"/>
                </a:solidFill>
                <a:latin typeface="Aptos"/>
              </a:rPr>
              <a:t>- Exposure-adjusted 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4352544"/>
            <a:ext cx="2907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D7E6FF"/>
                </a:solidFill>
                <a:latin typeface="Aptos"/>
              </a:rPr>
              <a:t>- Station-wise plans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9432" y="2761488"/>
            <a:ext cx="3346704" cy="2148840"/>
          </a:xfrm>
          <a:prstGeom prst="roundRect">
            <a:avLst>
              <a:gd name="adj" fmla="val 8000"/>
            </a:avLst>
          </a:prstGeom>
          <a:solidFill>
            <a:srgbClr val="102A55"/>
          </a:solidFill>
          <a:ln w="15240">
            <a:solidFill>
              <a:srgbClr val="FB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99432" y="2761488"/>
            <a:ext cx="64008" cy="2148840"/>
          </a:xfrm>
          <a:prstGeom prst="rect">
            <a:avLst/>
          </a:prstGeom>
          <a:solidFill>
            <a:srgbClr val="FB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926080"/>
            <a:ext cx="29626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30" b="1" i="0">
                <a:solidFill>
                  <a:srgbClr val="FFFFFF"/>
                </a:solidFill>
                <a:latin typeface="Aptos"/>
              </a:rPr>
              <a:t>Use as transparent proxy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5464" y="3419856"/>
            <a:ext cx="2907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D7E6FF"/>
                </a:solidFill>
                <a:latin typeface="Aptos"/>
              </a:rPr>
              <a:t>- Obstruction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3730752"/>
            <a:ext cx="2907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D7E6FF"/>
                </a:solidFill>
                <a:latin typeface="Aptos"/>
              </a:rPr>
              <a:t>- Spillback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464" y="4041648"/>
            <a:ext cx="2907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D7E6FF"/>
                </a:solidFill>
                <a:latin typeface="Aptos"/>
              </a:rPr>
              <a:t>- Lane-recovery minutes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5464" y="4352544"/>
            <a:ext cx="2907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D7E6FF"/>
                </a:solidFill>
                <a:latin typeface="Aptos"/>
              </a:rPr>
              <a:t>- Traffic-flow impact estimate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0183" y="2761488"/>
            <a:ext cx="3346704" cy="2148840"/>
          </a:xfrm>
          <a:prstGeom prst="roundRect">
            <a:avLst>
              <a:gd name="adj" fmla="val 8000"/>
            </a:avLst>
          </a:prstGeom>
          <a:solidFill>
            <a:srgbClr val="102A55"/>
          </a:solidFill>
          <a:ln w="15240">
            <a:solidFill>
              <a:srgbClr val="287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30183" y="2761488"/>
            <a:ext cx="64008" cy="214884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31352" y="2926080"/>
            <a:ext cx="29626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30" b="1" i="0">
                <a:solidFill>
                  <a:srgbClr val="FFFFFF"/>
                </a:solidFill>
                <a:latin typeface="Aptos"/>
              </a:rPr>
              <a:t>Measure after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86215" y="3419856"/>
            <a:ext cx="2907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D7E6FF"/>
                </a:solidFill>
                <a:latin typeface="Aptos"/>
              </a:rPr>
              <a:t>- Speed improvement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86215" y="3730752"/>
            <a:ext cx="2907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D7E6FF"/>
                </a:solidFill>
                <a:latin typeface="Aptos"/>
              </a:rPr>
              <a:t>- Queue reduction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215" y="4041648"/>
            <a:ext cx="2907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D7E6FF"/>
                </a:solidFill>
                <a:latin typeface="Aptos"/>
              </a:rPr>
              <a:t>- Closure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86215" y="4352544"/>
            <a:ext cx="2907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D7E6FF"/>
                </a:solidFill>
                <a:latin typeface="Aptos"/>
              </a:rPr>
              <a:t>- Manpower response effectiveness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5623560"/>
            <a:ext cx="10149840" cy="502920"/>
          </a:xfrm>
          <a:prstGeom prst="roundRect">
            <a:avLst>
              <a:gd name="adj" fmla="val 8000"/>
            </a:avLst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5769864"/>
            <a:ext cx="98023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ParkPulse is not a heatmap. It is a decision system for deciding which illegal parking Bengaluru should solve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